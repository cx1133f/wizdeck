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101"/>
    <p:sldId id="258" r:id="rId102"/>
    <p:sldId id="259" r:id="rId103"/>
    <p:sldId id="260" r:id="rId104"/>
    <p:sldId id="261" r:id="rId105"/>
    <p:sldId id="262" r:id="rId106"/>
  </p:sldIdLst>
  <p:sldSz cx="18288000" cy="10287000"/>
  <p:notesSz cx="10287000" cy="1828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1" Type="http://schemas.openxmlformats.org/officeDocument/2006/relationships/slide" Target="slides/slide1.xml"/><Relationship Id="rId102" Type="http://schemas.openxmlformats.org/officeDocument/2006/relationships/slide" Target="slides/slide2.xml"/><Relationship Id="rId103" Type="http://schemas.openxmlformats.org/officeDocument/2006/relationships/slide" Target="slides/slide3.xml"/><Relationship Id="rId104" Type="http://schemas.openxmlformats.org/officeDocument/2006/relationships/slide" Target="slides/slide4.xml"/><Relationship Id="rId105" Type="http://schemas.openxmlformats.org/officeDocument/2006/relationships/slide" Target="slides/slide5.xml"/><Relationship Id="rId106" Type="http://schemas.openxmlformats.org/officeDocument/2006/relationships/slide" Target="slides/slide6.xml"/><Relationship Id="rId2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914400" y="762000"/>
            <a:ext cx="16459200" cy="1714500"/>
          </a:xfrm>
          <a:prstGeom prst="rect">
            <a:avLst/>
          </a:prstGeom>
        </p:spPr>
        <p:txBody>
          <a:bodyPr/>
          <a:lstStyle/>
          <a:p>
            <a:r>
              <a:rPr lang="zh-CN"/>
              <a:t>单击编辑标题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2857500"/>
            <a:ext cx="16459200" cy="6477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/>
              <a:t>单击编辑文本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spcBef>
          <a:spcPct val="0"/>
        </a:spcBef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Img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底色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2233"/>
          </a:solidFill>
          <a:ln>
            <a:noFill/>
          </a:ln>
        </p:spPr>
        <p:txBody>
          <a:bodyPr/>
          <a:lstStyle/>
          <a:p/>
        </p:txBody>
      </p:sp>
      <p:pic>
        <p:nvPicPr>
          <p:cNvPr id="2" name="容器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10287000" y="-3619500"/>
            <a:ext cx="10477500" cy="10477500"/>
          </a:xfrm>
          <a:prstGeom prst="rect">
            <a:avLst/>
          </a:prstGeom>
        </p:spPr>
      </p:pic>
      <p:sp>
        <p:nvSpPr>
          <p:cNvPr id="3" name="区块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2233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容器"/>
          <p:cNvSpPr/>
          <p:nvPr/>
        </p:nvSpPr>
        <p:spPr>
          <a:xfrm>
            <a:off x="914400" y="4914900"/>
            <a:ext cx="1600200" cy="7620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容器"/>
          <p:cNvSpPr txBox="1"/>
          <p:nvPr/>
        </p:nvSpPr>
        <p:spPr>
          <a:xfrm>
            <a:off x="914400" y="2847975"/>
            <a:ext cx="3991109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950" b="1" spc="750" dirty="0">
                <a:srgbClr val="f2994a"/>
                <a:latin typeface="PingFang SC"/>
                <a:ea typeface="PingFang SC"/>
                <a:cs typeface="PingFang SC"/>
              </a:rPr>
              <a:t>小学数学 · 五年级下册</a:t>
            </a:r>
          </a:p>
        </p:txBody>
      </p:sp>
      <p:sp>
        <p:nvSpPr>
          <p:cNvPr id="6" name="大标题"/>
          <p:cNvSpPr txBox="1"/>
          <p:nvPr/>
        </p:nvSpPr>
        <p:spPr>
          <a:xfrm>
            <a:off x="914400" y="3295650"/>
            <a:ext cx="11399520" cy="18002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9900" b="1" spc="300" dirty="0">
                <a:srgbClr val="f7f4ec"/>
                <a:latin typeface="PingFang SC"/>
                <a:ea typeface="PingFang SC"/>
                <a:cs typeface="PingFang SC"/>
              </a:rPr>
              <a:t>分数的意义与性质</a:t>
            </a:r>
          </a:p>
        </p:txBody>
      </p:sp>
      <p:sp>
        <p:nvSpPr>
          <p:cNvPr id="7" name="容器"/>
          <p:cNvSpPr txBox="1"/>
          <p:nvPr/>
        </p:nvSpPr>
        <p:spPr>
          <a:xfrm>
            <a:off x="914400" y="5372100"/>
            <a:ext cx="942975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6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dirty="0">
                <a:srgbClr val="aeb9cc"/>
                <a:latin typeface="PingFang SC"/>
                <a:ea typeface="PingFang SC"/>
                <a:cs typeface="PingFang SC"/>
              </a:rPr>
              <a:t>从一个整体到一个数——理解分数如何表示部分与整体的关</a:t>
            </a:r>
          </a:p>
        </p:txBody>
      </p:sp>
      <p:sp>
        <p:nvSpPr>
          <p:cNvPr id="8" name="容器"/>
          <p:cNvSpPr txBox="1"/>
          <p:nvPr/>
        </p:nvSpPr>
        <p:spPr>
          <a:xfrm>
            <a:off x="914400" y="5890171"/>
            <a:ext cx="942975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6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dirty="0">
                <a:srgbClr val="aeb9cc"/>
                <a:latin typeface="PingFang SC"/>
                <a:ea typeface="PingFang SC"/>
                <a:cs typeface="PingFang SC"/>
              </a:rPr>
              <a:t>系，掌握分数的基本性质。</a:t>
            </a:r>
          </a:p>
        </p:txBody>
      </p:sp>
      <p:sp>
        <p:nvSpPr>
          <p:cNvPr id="9" name="容器"/>
          <p:cNvSpPr txBox="1"/>
          <p:nvPr/>
        </p:nvSpPr>
        <p:spPr>
          <a:xfrm>
            <a:off x="914400" y="9067800"/>
            <a:ext cx="4528245" cy="314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spc="225" dirty="0">
                <a:srgbClr val="6f7d93"/>
                <a:latin typeface="PingFang SC"/>
                <a:ea typeface="PingFang SC"/>
                <a:cs typeface="PingFang SC"/>
              </a:rPr>
              <a:t>授课教师：李老师 课时：2 课时</a:t>
            </a:r>
          </a:p>
        </p:txBody>
      </p:sp>
      <p:sp>
        <p:nvSpPr>
          <p:cNvPr id="10" name="容器"/>
          <p:cNvSpPr txBox="1"/>
          <p:nvPr/>
        </p:nvSpPr>
        <p:spPr>
          <a:xfrm>
            <a:off x="12174587" y="5667375"/>
            <a:ext cx="5362679" cy="409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500" b="1" dirty="0">
                <a:srgbClr val="f2994a">
                  <a:alpha val="16000"/>
                </a:srgbClr>
                <a:latin typeface="PingFang SC"/>
                <a:ea typeface="PingFang SC"/>
                <a:cs typeface="PingFang SC"/>
              </a:rPr>
              <a:t>1/2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底色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区块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容器"/>
          <p:cNvSpPr/>
          <p:nvPr/>
        </p:nvSpPr>
        <p:spPr>
          <a:xfrm>
            <a:off x="914400" y="2381250"/>
            <a:ext cx="914400" cy="5715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容器"/>
          <p:cNvSpPr/>
          <p:nvPr/>
        </p:nvSpPr>
        <p:spPr>
          <a:xfrm>
            <a:off x="914400" y="3048000"/>
            <a:ext cx="5232350" cy="40005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76200" cap="flat">
            <a:solidFill>
              <a:srgbClr val="2f80ed"/>
            </a:solidFill>
          </a:ln>
        </p:spPr>
        <p:txBody>
          <a:bodyPr/>
          <a:lstStyle/>
          <a:p/>
        </p:txBody>
      </p:sp>
      <p:sp>
        <p:nvSpPr>
          <p:cNvPr id="14" name="容器"/>
          <p:cNvSpPr/>
          <p:nvPr/>
        </p:nvSpPr>
        <p:spPr>
          <a:xfrm>
            <a:off x="6527750" y="3048000"/>
            <a:ext cx="5232499" cy="40005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76200" cap="flat">
            <a:solidFill>
              <a:srgbClr val="f2994a"/>
            </a:solidFill>
          </a:ln>
        </p:spPr>
        <p:txBody>
          <a:bodyPr/>
          <a:lstStyle/>
          <a:p/>
        </p:txBody>
      </p:sp>
      <p:sp>
        <p:nvSpPr>
          <p:cNvPr id="15" name="容器"/>
          <p:cNvSpPr/>
          <p:nvPr/>
        </p:nvSpPr>
        <p:spPr>
          <a:xfrm>
            <a:off x="12141250" y="3048000"/>
            <a:ext cx="5232350" cy="40005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76200" cap="flat">
            <a:solidFill>
              <a:srgbClr val="2f80ed"/>
            </a:solidFill>
          </a:ln>
        </p:spPr>
        <p:txBody>
          <a:bodyPr/>
          <a:lstStyle/>
          <a:p/>
        </p:txBody>
      </p:sp>
      <p:sp>
        <p:nvSpPr>
          <p:cNvPr id="16" name="容器"/>
          <p:cNvSpPr txBox="1"/>
          <p:nvPr/>
        </p:nvSpPr>
        <p:spPr>
          <a:xfrm>
            <a:off x="914400" y="866775"/>
            <a:ext cx="1257300" cy="295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50" b="1" spc="600" dirty="0">
                <a:srgbClr val="f2994a"/>
                <a:latin typeface="PingFang SC"/>
                <a:ea typeface="PingFang SC"/>
                <a:cs typeface="PingFang SC"/>
              </a:rPr>
              <a:t>学习目标</a:t>
            </a:r>
          </a:p>
        </p:txBody>
      </p:sp>
      <p:sp>
        <p:nvSpPr>
          <p:cNvPr id="17" name="标题"/>
          <p:cNvSpPr txBox="1"/>
          <p:nvPr/>
        </p:nvSpPr>
        <p:spPr>
          <a:xfrm>
            <a:off x="914400" y="1295400"/>
            <a:ext cx="7648575" cy="981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5400" b="1" spc="75" dirty="0">
                <a:srgbClr val="1a2233"/>
                <a:latin typeface="PingFang SC"/>
                <a:ea typeface="PingFang SC"/>
                <a:cs typeface="PingFang SC"/>
              </a:rPr>
              <a:t>这节课我们要掌握什么</a:t>
            </a:r>
          </a:p>
        </p:txBody>
      </p:sp>
      <p:sp>
        <p:nvSpPr>
          <p:cNvPr id="18" name="容器"/>
          <p:cNvSpPr txBox="1"/>
          <p:nvPr/>
        </p:nvSpPr>
        <p:spPr>
          <a:xfrm>
            <a:off x="1333500" y="3429000"/>
            <a:ext cx="4833565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350" b="1" dirty="0">
                <a:srgbClr val="dde5f0"/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9" name="小标题"/>
          <p:cNvSpPr txBox="1"/>
          <p:nvPr/>
        </p:nvSpPr>
        <p:spPr>
          <a:xfrm>
            <a:off x="1333500" y="4248150"/>
            <a:ext cx="4833565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000" b="1" dirty="0">
                <a:srgbClr val="1a2233"/>
                <a:latin typeface="PingFang SC"/>
                <a:ea typeface="PingFang SC"/>
                <a:cs typeface="PingFang SC"/>
              </a:rPr>
              <a:t>认识单位「1」</a:t>
            </a:r>
          </a:p>
        </p:txBody>
      </p:sp>
      <p:sp>
        <p:nvSpPr>
          <p:cNvPr id="20" name="段落"/>
          <p:cNvSpPr txBox="1"/>
          <p:nvPr/>
        </p:nvSpPr>
        <p:spPr>
          <a:xfrm>
            <a:off x="1333500" y="4991100"/>
            <a:ext cx="4833565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950" dirty="0">
                <a:srgbClr val="55617a"/>
                <a:latin typeface="PingFang SC"/>
                <a:ea typeface="PingFang SC"/>
                <a:cs typeface="PingFang SC"/>
              </a:rPr>
              <a:t>把一个物体或一些物体看作一个整体，</a:t>
            </a:r>
          </a:p>
        </p:txBody>
      </p:sp>
      <p:sp>
        <p:nvSpPr>
          <p:cNvPr id="21" name="段落"/>
          <p:cNvSpPr txBox="1"/>
          <p:nvPr/>
        </p:nvSpPr>
        <p:spPr>
          <a:xfrm>
            <a:off x="1333500" y="5424488"/>
            <a:ext cx="4833565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950" dirty="0">
                <a:srgbClr val="55617a"/>
                <a:latin typeface="PingFang SC"/>
                <a:ea typeface="PingFang SC"/>
                <a:cs typeface="PingFang SC"/>
              </a:rPr>
              <a:t>这个整体就是单位「1」。</a:t>
            </a:r>
          </a:p>
        </p:txBody>
      </p:sp>
      <p:sp>
        <p:nvSpPr>
          <p:cNvPr id="22" name="容器"/>
          <p:cNvSpPr txBox="1"/>
          <p:nvPr/>
        </p:nvSpPr>
        <p:spPr>
          <a:xfrm>
            <a:off x="6946850" y="3429000"/>
            <a:ext cx="4833729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350" b="1" dirty="0">
                <a:srgbClr val="dde5f0"/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3" name="小标题"/>
          <p:cNvSpPr txBox="1"/>
          <p:nvPr/>
        </p:nvSpPr>
        <p:spPr>
          <a:xfrm>
            <a:off x="6946850" y="4248150"/>
            <a:ext cx="4833729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000" b="1" dirty="0">
                <a:srgbClr val="1a2233"/>
                <a:latin typeface="PingFang SC"/>
                <a:ea typeface="PingFang SC"/>
                <a:cs typeface="PingFang SC"/>
              </a:rPr>
              <a:t>理解分数意义</a:t>
            </a:r>
          </a:p>
        </p:txBody>
      </p:sp>
      <p:sp>
        <p:nvSpPr>
          <p:cNvPr id="24" name="段落"/>
          <p:cNvSpPr txBox="1"/>
          <p:nvPr/>
        </p:nvSpPr>
        <p:spPr>
          <a:xfrm>
            <a:off x="6946850" y="4991100"/>
            <a:ext cx="4833729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950" dirty="0">
                <a:srgbClr val="55617a"/>
                <a:latin typeface="PingFang SC"/>
                <a:ea typeface="PingFang SC"/>
                <a:cs typeface="PingFang SC"/>
              </a:rPr>
              <a:t>把单位「1」平均分成若干份，表示这样</a:t>
            </a:r>
          </a:p>
        </p:txBody>
      </p:sp>
      <p:sp>
        <p:nvSpPr>
          <p:cNvPr id="25" name="段落"/>
          <p:cNvSpPr txBox="1"/>
          <p:nvPr/>
        </p:nvSpPr>
        <p:spPr>
          <a:xfrm>
            <a:off x="6946850" y="5424488"/>
            <a:ext cx="4833729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950" dirty="0">
                <a:srgbClr val="55617a"/>
                <a:latin typeface="PingFang SC"/>
                <a:ea typeface="PingFang SC"/>
                <a:cs typeface="PingFang SC"/>
              </a:rPr>
              <a:t>一份或几份的数，叫做分数。</a:t>
            </a:r>
          </a:p>
        </p:txBody>
      </p:sp>
      <p:sp>
        <p:nvSpPr>
          <p:cNvPr id="26" name="容器"/>
          <p:cNvSpPr txBox="1"/>
          <p:nvPr/>
        </p:nvSpPr>
        <p:spPr>
          <a:xfrm>
            <a:off x="12560350" y="3429000"/>
            <a:ext cx="4833565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350" b="1" dirty="0">
                <a:srgbClr val="dde5f0"/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7" name="小标题"/>
          <p:cNvSpPr txBox="1"/>
          <p:nvPr/>
        </p:nvSpPr>
        <p:spPr>
          <a:xfrm>
            <a:off x="12560350" y="4248150"/>
            <a:ext cx="4833565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000" b="1" dirty="0">
                <a:srgbClr val="1a2233"/>
                <a:latin typeface="PingFang SC"/>
                <a:ea typeface="PingFang SC"/>
                <a:cs typeface="PingFang SC"/>
              </a:rPr>
              <a:t>掌握基本性质</a:t>
            </a:r>
          </a:p>
        </p:txBody>
      </p:sp>
      <p:sp>
        <p:nvSpPr>
          <p:cNvPr id="28" name="段落"/>
          <p:cNvSpPr txBox="1"/>
          <p:nvPr/>
        </p:nvSpPr>
        <p:spPr>
          <a:xfrm>
            <a:off x="12560350" y="4991100"/>
            <a:ext cx="4833565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950" dirty="0">
                <a:srgbClr val="55617a"/>
                <a:latin typeface="PingFang SC"/>
                <a:ea typeface="PingFang SC"/>
                <a:cs typeface="PingFang SC"/>
              </a:rPr>
              <a:t>分数的分子和分母同乘或同除以相同的</a:t>
            </a:r>
          </a:p>
        </p:txBody>
      </p:sp>
      <p:sp>
        <p:nvSpPr>
          <p:cNvPr id="29" name="段落"/>
          <p:cNvSpPr txBox="1"/>
          <p:nvPr/>
        </p:nvSpPr>
        <p:spPr>
          <a:xfrm>
            <a:off x="12560350" y="5424488"/>
            <a:ext cx="4833565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950" dirty="0">
                <a:srgbClr val="55617a"/>
                <a:latin typeface="PingFang SC"/>
                <a:ea typeface="PingFang SC"/>
                <a:cs typeface="PingFang SC"/>
              </a:rPr>
              <a:t>数（0 除外），分数大小不变。</a:t>
            </a:r>
          </a:p>
        </p:txBody>
      </p:sp>
      <p:sp>
        <p:nvSpPr>
          <p:cNvPr id="30" name="容器"/>
          <p:cNvSpPr txBox="1"/>
          <p:nvPr/>
        </p:nvSpPr>
        <p:spPr>
          <a:xfrm>
            <a:off x="914400" y="9467850"/>
            <a:ext cx="1844040" cy="295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50" dirty="0">
                <a:srgbClr val="b3bccb"/>
                <a:latin typeface="PingFang SC"/>
                <a:ea typeface="PingFang SC"/>
                <a:cs typeface="PingFang SC"/>
              </a:rPr>
              <a:t>分数的意义与性质</a:t>
            </a:r>
          </a:p>
        </p:txBody>
      </p:sp>
      <p:sp>
        <p:nvSpPr>
          <p:cNvPr id="31" name="容器"/>
          <p:cNvSpPr txBox="1"/>
          <p:nvPr/>
        </p:nvSpPr>
        <p:spPr>
          <a:xfrm>
            <a:off x="16535102" y="9467850"/>
            <a:ext cx="922347" cy="295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50" spc="150" dirty="0">
                <a:srgbClr val="b3bccb"/>
                <a:latin typeface="PingFang SC"/>
                <a:ea typeface="PingFang SC"/>
                <a:cs typeface="PingFang SC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底色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区块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容器"/>
          <p:cNvSpPr/>
          <p:nvPr/>
        </p:nvSpPr>
        <p:spPr>
          <a:xfrm>
            <a:off x="914400" y="2381250"/>
            <a:ext cx="914400" cy="5715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容器"/>
          <p:cNvSpPr/>
          <p:nvPr/>
        </p:nvSpPr>
        <p:spPr>
          <a:xfrm>
            <a:off x="914400" y="4848225"/>
            <a:ext cx="5130701" cy="133350"/>
          </a:xfrm>
          <a:prstGeom prst="roundRect">
            <a:avLst>
              <a:gd name="adj" fmla="val 50000"/>
            </a:avLst>
          </a:prstGeom>
          <a:solidFill>
            <a:srgbClr val="e8edf5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i"/>
          <p:cNvSpPr/>
          <p:nvPr/>
        </p:nvSpPr>
        <p:spPr>
          <a:xfrm>
            <a:off x="914400" y="4848225"/>
            <a:ext cx="4720233" cy="133350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容器"/>
          <p:cNvSpPr/>
          <p:nvPr/>
        </p:nvSpPr>
        <p:spPr>
          <a:xfrm>
            <a:off x="6578501" y="4848225"/>
            <a:ext cx="5130850" cy="133350"/>
          </a:xfrm>
          <a:prstGeom prst="roundRect">
            <a:avLst>
              <a:gd name="adj" fmla="val 50000"/>
            </a:avLst>
          </a:prstGeom>
          <a:solidFill>
            <a:srgbClr val="e8edf5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i"/>
          <p:cNvSpPr/>
          <p:nvPr/>
        </p:nvSpPr>
        <p:spPr>
          <a:xfrm>
            <a:off x="6578501" y="4848225"/>
            <a:ext cx="4001988" cy="133350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容器"/>
          <p:cNvSpPr/>
          <p:nvPr/>
        </p:nvSpPr>
        <p:spPr>
          <a:xfrm>
            <a:off x="12242750" y="4848225"/>
            <a:ext cx="5130850" cy="133350"/>
          </a:xfrm>
          <a:prstGeom prst="roundRect">
            <a:avLst>
              <a:gd name="adj" fmla="val 50000"/>
            </a:avLst>
          </a:prstGeom>
          <a:solidFill>
            <a:srgbClr val="e8edf5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i"/>
          <p:cNvSpPr/>
          <p:nvPr/>
        </p:nvSpPr>
        <p:spPr>
          <a:xfrm>
            <a:off x="12242750" y="4848225"/>
            <a:ext cx="1744414" cy="133350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容器"/>
          <p:cNvSpPr txBox="1"/>
          <p:nvPr/>
        </p:nvSpPr>
        <p:spPr>
          <a:xfrm>
            <a:off x="914400" y="866775"/>
            <a:ext cx="1257300" cy="295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50" b="1" spc="600" dirty="0">
                <a:srgbClr val="f2994a"/>
                <a:latin typeface="PingFang SC"/>
                <a:ea typeface="PingFang SC"/>
                <a:cs typeface="PingFang SC"/>
              </a:rPr>
              <a:t>课堂数据</a:t>
            </a:r>
          </a:p>
        </p:txBody>
      </p:sp>
      <p:sp>
        <p:nvSpPr>
          <p:cNvPr id="41" name="标题"/>
          <p:cNvSpPr txBox="1"/>
          <p:nvPr/>
        </p:nvSpPr>
        <p:spPr>
          <a:xfrm>
            <a:off x="914400" y="1295400"/>
            <a:ext cx="6883718" cy="981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5400" b="1" spc="75" dirty="0">
                <a:srgbClr val="1a2233"/>
                <a:latin typeface="PingFang SC"/>
                <a:ea typeface="PingFang SC"/>
                <a:cs typeface="PingFang SC"/>
              </a:rPr>
              <a:t>一次小测的三组观察</a:t>
            </a:r>
          </a:p>
        </p:txBody>
      </p:sp>
      <p:sp>
        <p:nvSpPr>
          <p:cNvPr id="42" name="容器"/>
          <p:cNvSpPr txBox="1"/>
          <p:nvPr/>
        </p:nvSpPr>
        <p:spPr>
          <a:xfrm>
            <a:off x="914400" y="2924175"/>
            <a:ext cx="5643771" cy="14192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65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7800" b="1" dirty="0">
                <a:srgbClr val="1a2233"/>
                <a:latin typeface="PingFang SC"/>
                <a:ea typeface="PingFang SC"/>
                <a:cs typeface="PingFang SC"/>
              </a:rPr>
              <a:t>92</a:t>
            </a:r>
          </a:p>
        </p:txBody>
      </p:sp>
      <p:sp>
        <p:nvSpPr>
          <p:cNvPr id="43" name="容器"/>
          <p:cNvSpPr txBox="1"/>
          <p:nvPr/>
        </p:nvSpPr>
        <p:spPr>
          <a:xfrm>
            <a:off x="2136279" y="3571875"/>
            <a:ext cx="5643771" cy="1104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65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000" b="1" dirty="0">
                <a:srgbClr val="f2994a"/>
                <a:latin typeface="PingFang SC"/>
                <a:ea typeface="PingFang SC"/>
                <a:cs typeface="PingFang SC"/>
              </a:rPr>
              <a:t>%</a:t>
            </a:r>
          </a:p>
        </p:txBody>
      </p:sp>
      <p:sp>
        <p:nvSpPr>
          <p:cNvPr id="44" name="容器"/>
          <p:cNvSpPr txBox="1"/>
          <p:nvPr/>
        </p:nvSpPr>
        <p:spPr>
          <a:xfrm>
            <a:off x="914400" y="4257675"/>
            <a:ext cx="5643771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950" dirty="0">
                <a:srgbClr val="55617a"/>
                <a:latin typeface="PingFang SC"/>
                <a:ea typeface="PingFang SC"/>
                <a:cs typeface="PingFang SC"/>
              </a:rPr>
              <a:t>能正确说出单位「1」</a:t>
            </a:r>
          </a:p>
        </p:txBody>
      </p:sp>
      <p:sp>
        <p:nvSpPr>
          <p:cNvPr id="45" name="容器"/>
          <p:cNvSpPr txBox="1"/>
          <p:nvPr/>
        </p:nvSpPr>
        <p:spPr>
          <a:xfrm>
            <a:off x="6578501" y="2924175"/>
            <a:ext cx="5643935" cy="14192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65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7800" b="1" dirty="0">
                <a:srgbClr val="1a2233"/>
                <a:latin typeface="PingFang SC"/>
                <a:ea typeface="PingFang SC"/>
                <a:cs typeface="PingFang SC"/>
              </a:rPr>
              <a:t>78</a:t>
            </a:r>
          </a:p>
        </p:txBody>
      </p:sp>
      <p:sp>
        <p:nvSpPr>
          <p:cNvPr id="46" name="容器"/>
          <p:cNvSpPr txBox="1"/>
          <p:nvPr/>
        </p:nvSpPr>
        <p:spPr>
          <a:xfrm>
            <a:off x="7800380" y="3571875"/>
            <a:ext cx="5643935" cy="1104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65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000" b="1" dirty="0">
                <a:srgbClr val="f2994a"/>
                <a:latin typeface="PingFang SC"/>
                <a:ea typeface="PingFang SC"/>
                <a:cs typeface="PingFang SC"/>
              </a:rPr>
              <a:t>%</a:t>
            </a:r>
          </a:p>
        </p:txBody>
      </p:sp>
      <p:sp>
        <p:nvSpPr>
          <p:cNvPr id="47" name="容器"/>
          <p:cNvSpPr txBox="1"/>
          <p:nvPr/>
        </p:nvSpPr>
        <p:spPr>
          <a:xfrm>
            <a:off x="6578501" y="4257675"/>
            <a:ext cx="5643935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950" dirty="0">
                <a:srgbClr val="55617a"/>
                <a:latin typeface="PingFang SC"/>
                <a:ea typeface="PingFang SC"/>
                <a:cs typeface="PingFang SC"/>
              </a:rPr>
              <a:t>能画出等值的分数</a:t>
            </a:r>
          </a:p>
        </p:txBody>
      </p:sp>
      <p:sp>
        <p:nvSpPr>
          <p:cNvPr id="48" name="容器"/>
          <p:cNvSpPr txBox="1"/>
          <p:nvPr/>
        </p:nvSpPr>
        <p:spPr>
          <a:xfrm>
            <a:off x="12242750" y="2924175"/>
            <a:ext cx="5643935" cy="14192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65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7800" b="1" dirty="0">
                <a:srgbClr val="1a2233"/>
                <a:latin typeface="PingFang SC"/>
                <a:ea typeface="PingFang SC"/>
                <a:cs typeface="PingFang SC"/>
              </a:rPr>
              <a:t>34</a:t>
            </a:r>
          </a:p>
        </p:txBody>
      </p:sp>
      <p:sp>
        <p:nvSpPr>
          <p:cNvPr id="49" name="容器"/>
          <p:cNvSpPr txBox="1"/>
          <p:nvPr/>
        </p:nvSpPr>
        <p:spPr>
          <a:xfrm>
            <a:off x="13464629" y="3571875"/>
            <a:ext cx="4823371" cy="1104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65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000" b="1" dirty="0">
                <a:srgbClr val="f2994a"/>
                <a:latin typeface="PingFang SC"/>
                <a:ea typeface="PingFang SC"/>
                <a:cs typeface="PingFang SC"/>
              </a:rPr>
              <a:t>%</a:t>
            </a:r>
          </a:p>
        </p:txBody>
      </p:sp>
      <p:sp>
        <p:nvSpPr>
          <p:cNvPr id="50" name="容器"/>
          <p:cNvSpPr txBox="1"/>
          <p:nvPr/>
        </p:nvSpPr>
        <p:spPr>
          <a:xfrm>
            <a:off x="12242750" y="4257675"/>
            <a:ext cx="5643935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950" dirty="0">
                <a:srgbClr val="55617a"/>
                <a:latin typeface="PingFang SC"/>
                <a:ea typeface="PingFang SC"/>
                <a:cs typeface="PingFang SC"/>
              </a:rPr>
              <a:t>能说明性质成立的理由</a:t>
            </a:r>
          </a:p>
        </p:txBody>
      </p:sp>
      <p:sp>
        <p:nvSpPr>
          <p:cNvPr id="51" name="容器"/>
          <p:cNvSpPr txBox="1"/>
          <p:nvPr/>
        </p:nvSpPr>
        <p:spPr>
          <a:xfrm>
            <a:off x="914400" y="9467850"/>
            <a:ext cx="3633892" cy="295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50" dirty="0">
                <a:srgbClr val="b3bccb"/>
                <a:latin typeface="PingFang SC"/>
                <a:ea typeface="PingFang SC"/>
                <a:cs typeface="PingFang SC"/>
              </a:rPr>
              <a:t>数据来源：本班 42 名学生随堂练习</a:t>
            </a:r>
          </a:p>
        </p:txBody>
      </p:sp>
      <p:sp>
        <p:nvSpPr>
          <p:cNvPr id="52" name="容器"/>
          <p:cNvSpPr txBox="1"/>
          <p:nvPr/>
        </p:nvSpPr>
        <p:spPr>
          <a:xfrm>
            <a:off x="16535102" y="9467850"/>
            <a:ext cx="922347" cy="295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50" spc="150" dirty="0">
                <a:srgbClr val="b3bccb"/>
                <a:latin typeface="PingFang SC"/>
                <a:ea typeface="PingFang SC"/>
                <a:cs typeface="PingFang SC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底色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区块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容器"/>
          <p:cNvSpPr/>
          <p:nvPr/>
        </p:nvSpPr>
        <p:spPr>
          <a:xfrm>
            <a:off x="914400" y="2381250"/>
            <a:ext cx="914400" cy="5715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容器"/>
          <p:cNvSpPr/>
          <p:nvPr/>
        </p:nvSpPr>
        <p:spPr>
          <a:xfrm>
            <a:off x="914400" y="3048000"/>
            <a:ext cx="8229600" cy="5829300"/>
          </a:xfrm>
          <a:prstGeom prst="roundRect">
            <a:avLst>
              <a:gd name="adj" fmla="val 3268"/>
            </a:avLst>
          </a:prstGeom>
          <a:solidFill>
            <a:srgbClr val="1a2233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容器"/>
          <p:cNvSpPr/>
          <p:nvPr/>
        </p:nvSpPr>
        <p:spPr>
          <a:xfrm>
            <a:off x="9144000" y="3048000"/>
            <a:ext cx="8229600" cy="5829300"/>
          </a:xfrm>
          <a:prstGeom prst="roundRect">
            <a:avLst>
              <a:gd name="adj" fmla="val 3268"/>
            </a:avLst>
          </a:prstGeom>
          <a:solidFill>
            <a:srgbClr val="f2994a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容器"/>
          <p:cNvSpPr txBox="1"/>
          <p:nvPr/>
        </p:nvSpPr>
        <p:spPr>
          <a:xfrm>
            <a:off x="914400" y="866775"/>
            <a:ext cx="1257300" cy="295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50" b="1" spc="600" dirty="0">
                <a:srgbClr val="f2994a"/>
                <a:latin typeface="PingFang SC"/>
                <a:ea typeface="PingFang SC"/>
                <a:cs typeface="PingFang SC"/>
              </a:rPr>
              <a:t>对比辨析</a:t>
            </a:r>
          </a:p>
        </p:txBody>
      </p:sp>
      <p:sp>
        <p:nvSpPr>
          <p:cNvPr id="58" name="标题"/>
          <p:cNvSpPr txBox="1"/>
          <p:nvPr/>
        </p:nvSpPr>
        <p:spPr>
          <a:xfrm>
            <a:off x="914400" y="1295400"/>
            <a:ext cx="7648575" cy="981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5400" b="1" spc="75" dirty="0">
                <a:srgbClr val="1a2233"/>
                <a:latin typeface="PingFang SC"/>
                <a:ea typeface="PingFang SC"/>
                <a:cs typeface="PingFang SC"/>
              </a:rPr>
              <a:t>一样大，为什么不一样</a:t>
            </a:r>
          </a:p>
        </p:txBody>
      </p:sp>
      <p:sp>
        <p:nvSpPr>
          <p:cNvPr id="59" name="容器"/>
          <p:cNvSpPr txBox="1"/>
          <p:nvPr/>
        </p:nvSpPr>
        <p:spPr>
          <a:xfrm>
            <a:off x="1409700" y="3533775"/>
            <a:ext cx="7962900" cy="314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1" spc="375" dirty="0">
                <a:srgbClr val="f7f4ec"/>
                <a:latin typeface="PingFang SC"/>
                <a:ea typeface="PingFang SC"/>
                <a:cs typeface="PingFang SC"/>
              </a:rPr>
              <a:t>表示方法</a:t>
            </a:r>
          </a:p>
        </p:txBody>
      </p:sp>
      <p:sp>
        <p:nvSpPr>
          <p:cNvPr id="60" name="小标题"/>
          <p:cNvSpPr txBox="1"/>
          <p:nvPr/>
        </p:nvSpPr>
        <p:spPr>
          <a:xfrm>
            <a:off x="1409700" y="3962400"/>
            <a:ext cx="7962900" cy="714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900" b="1" dirty="0">
                <a:srgbClr val="f7f4ec"/>
                <a:latin typeface="PingFang SC"/>
                <a:ea typeface="PingFang SC"/>
                <a:cs typeface="PingFang SC"/>
              </a:rPr>
              <a:t>形式不同</a:t>
            </a:r>
          </a:p>
        </p:txBody>
      </p:sp>
      <p:sp>
        <p:nvSpPr>
          <p:cNvPr id="61" name="列表项"/>
          <p:cNvSpPr txBox="1"/>
          <p:nvPr/>
        </p:nvSpPr>
        <p:spPr>
          <a:xfrm>
            <a:off x="1695450" y="4962525"/>
            <a:ext cx="7962900" cy="3905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100" dirty="0">
                <a:srgbClr val="f7f4ec"/>
                <a:latin typeface="PingFang SC"/>
                <a:ea typeface="PingFang SC"/>
                <a:cs typeface="PingFang SC"/>
              </a:rPr>
              <a:t>分子分母的数值不同</a:t>
            </a:r>
          </a:p>
        </p:txBody>
      </p:sp>
      <p:sp>
        <p:nvSpPr>
          <p:cNvPr id="62" name="列表项"/>
          <p:cNvSpPr txBox="1"/>
          <p:nvPr/>
        </p:nvSpPr>
        <p:spPr>
          <a:xfrm>
            <a:off x="1695450" y="5495925"/>
            <a:ext cx="7962900" cy="3905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100" dirty="0">
                <a:srgbClr val="f7f4ec"/>
                <a:latin typeface="PingFang SC"/>
                <a:ea typeface="PingFang SC"/>
                <a:cs typeface="PingFang SC"/>
              </a:rPr>
              <a:t>平均分的份数不同</a:t>
            </a:r>
          </a:p>
        </p:txBody>
      </p:sp>
      <p:sp>
        <p:nvSpPr>
          <p:cNvPr id="63" name="列表项"/>
          <p:cNvSpPr txBox="1"/>
          <p:nvPr/>
        </p:nvSpPr>
        <p:spPr>
          <a:xfrm>
            <a:off x="1695450" y="6029325"/>
            <a:ext cx="7962900" cy="3905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100" dirty="0">
                <a:srgbClr val="f7f4ec"/>
                <a:latin typeface="PingFang SC"/>
                <a:ea typeface="PingFang SC"/>
                <a:cs typeface="PingFang SC"/>
              </a:rPr>
              <a:t>取的份数也随之不同</a:t>
            </a:r>
          </a:p>
        </p:txBody>
      </p:sp>
      <p:sp>
        <p:nvSpPr>
          <p:cNvPr id="64" name="容器"/>
          <p:cNvSpPr txBox="1"/>
          <p:nvPr/>
        </p:nvSpPr>
        <p:spPr>
          <a:xfrm>
            <a:off x="4054153" y="6810375"/>
            <a:ext cx="7962900" cy="163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9000" b="1" dirty="0">
                <a:srgbClr val="f7f4ec"/>
                <a:latin typeface="PingFang SC"/>
                <a:ea typeface="PingFang SC"/>
                <a:cs typeface="PingFang SC"/>
              </a:rPr>
              <a:t>1/2</a:t>
            </a:r>
          </a:p>
        </p:txBody>
      </p:sp>
      <p:sp>
        <p:nvSpPr>
          <p:cNvPr id="65" name="容器"/>
          <p:cNvSpPr txBox="1"/>
          <p:nvPr/>
        </p:nvSpPr>
        <p:spPr>
          <a:xfrm>
            <a:off x="9639300" y="3533775"/>
            <a:ext cx="7962900" cy="314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1" spc="375" dirty="0">
                <a:srgbClr val="3a2a00"/>
                <a:latin typeface="PingFang SC"/>
                <a:ea typeface="PingFang SC"/>
                <a:cs typeface="PingFang SC"/>
              </a:rPr>
              <a:t>大小关系</a:t>
            </a:r>
          </a:p>
        </p:txBody>
      </p:sp>
      <p:sp>
        <p:nvSpPr>
          <p:cNvPr id="66" name="小标题"/>
          <p:cNvSpPr txBox="1"/>
          <p:nvPr/>
        </p:nvSpPr>
        <p:spPr>
          <a:xfrm>
            <a:off x="9639300" y="3962400"/>
            <a:ext cx="7962900" cy="714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900" b="1" dirty="0">
                <a:srgbClr val="3a2a00"/>
                <a:latin typeface="PingFang SC"/>
                <a:ea typeface="PingFang SC"/>
                <a:cs typeface="PingFang SC"/>
              </a:rPr>
              <a:t>大小相同</a:t>
            </a:r>
          </a:p>
        </p:txBody>
      </p:sp>
      <p:sp>
        <p:nvSpPr>
          <p:cNvPr id="67" name="列表项"/>
          <p:cNvSpPr txBox="1"/>
          <p:nvPr/>
        </p:nvSpPr>
        <p:spPr>
          <a:xfrm>
            <a:off x="9925050" y="4962525"/>
            <a:ext cx="7962900" cy="3905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100" dirty="0">
                <a:srgbClr val="3a2a00"/>
                <a:latin typeface="PingFang SC"/>
                <a:ea typeface="PingFang SC"/>
                <a:cs typeface="PingFang SC"/>
              </a:rPr>
              <a:t>都是整体的一半</a:t>
            </a:r>
          </a:p>
        </p:txBody>
      </p:sp>
      <p:sp>
        <p:nvSpPr>
          <p:cNvPr id="68" name="列表项"/>
          <p:cNvSpPr txBox="1"/>
          <p:nvPr/>
        </p:nvSpPr>
        <p:spPr>
          <a:xfrm>
            <a:off x="9925050" y="5495925"/>
            <a:ext cx="7962900" cy="3905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100" dirty="0">
                <a:srgbClr val="3a2a00"/>
                <a:latin typeface="PingFang SC"/>
                <a:ea typeface="PingFang SC"/>
                <a:cs typeface="PingFang SC"/>
              </a:rPr>
              <a:t>在数轴上落在同一点</a:t>
            </a:r>
          </a:p>
        </p:txBody>
      </p:sp>
      <p:sp>
        <p:nvSpPr>
          <p:cNvPr id="69" name="列表项"/>
          <p:cNvSpPr txBox="1"/>
          <p:nvPr/>
        </p:nvSpPr>
        <p:spPr>
          <a:xfrm>
            <a:off x="9925050" y="6029325"/>
            <a:ext cx="7962900" cy="3905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100" dirty="0">
                <a:srgbClr val="3a2a00"/>
                <a:latin typeface="PingFang SC"/>
                <a:ea typeface="PingFang SC"/>
                <a:cs typeface="PingFang SC"/>
              </a:rPr>
              <a:t>是同一种大小的两种写法</a:t>
            </a:r>
          </a:p>
        </p:txBody>
      </p:sp>
      <p:sp>
        <p:nvSpPr>
          <p:cNvPr id="70" name="容器"/>
          <p:cNvSpPr txBox="1"/>
          <p:nvPr/>
        </p:nvSpPr>
        <p:spPr>
          <a:xfrm>
            <a:off x="12283753" y="6810375"/>
            <a:ext cx="6004247" cy="163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9000" b="1" dirty="0">
                <a:srgbClr val="3a2a00"/>
                <a:latin typeface="PingFang SC"/>
                <a:ea typeface="PingFang SC"/>
                <a:cs typeface="PingFang SC"/>
              </a:rPr>
              <a:t>2/4</a:t>
            </a:r>
          </a:p>
        </p:txBody>
      </p:sp>
      <p:sp>
        <p:nvSpPr>
          <p:cNvPr id="71" name="容器"/>
          <p:cNvSpPr txBox="1"/>
          <p:nvPr/>
        </p:nvSpPr>
        <p:spPr>
          <a:xfrm>
            <a:off x="914400" y="9467850"/>
            <a:ext cx="3688080" cy="295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50" dirty="0">
                <a:srgbClr val="b3bccb"/>
                <a:latin typeface="PingFang SC"/>
                <a:ea typeface="PingFang SC"/>
                <a:cs typeface="PingFang SC"/>
              </a:rPr>
              <a:t>关键：大小相等，但意义与表示不同</a:t>
            </a:r>
          </a:p>
        </p:txBody>
      </p:sp>
      <p:sp>
        <p:nvSpPr>
          <p:cNvPr id="72" name="容器"/>
          <p:cNvSpPr txBox="1"/>
          <p:nvPr/>
        </p:nvSpPr>
        <p:spPr>
          <a:xfrm>
            <a:off x="16535102" y="9467850"/>
            <a:ext cx="922347" cy="295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50" spc="150" dirty="0">
                <a:srgbClr val="b3bccb"/>
                <a:latin typeface="PingFang SC"/>
                <a:ea typeface="PingFang SC"/>
                <a:cs typeface="PingFang SC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底色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区块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容器"/>
          <p:cNvSpPr/>
          <p:nvPr/>
        </p:nvSpPr>
        <p:spPr>
          <a:xfrm>
            <a:off x="914400" y="2381250"/>
            <a:ext cx="914400" cy="5715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表头格"/>
          <p:cNvSpPr/>
          <p:nvPr/>
        </p:nvSpPr>
        <p:spPr>
          <a:xfrm>
            <a:off x="914400" y="3143250"/>
            <a:ext cx="2667000" cy="809625"/>
          </a:xfrm>
          <a:prstGeom prst="rect">
            <a:avLst/>
          </a:prstGeom>
          <a:solidFill>
            <a:srgbClr val="1a2233"/>
          </a:solidFill>
          <a:ln>
            <a:noFill/>
          </a:ln>
        </p:spPr>
        <p:txBody>
          <a:bodyPr/>
          <a:lstStyle/>
          <a:p/>
        </p:txBody>
      </p:sp>
      <p:sp>
        <p:nvSpPr>
          <p:cNvPr id="76" name="表头格"/>
          <p:cNvSpPr/>
          <p:nvPr/>
        </p:nvSpPr>
        <p:spPr>
          <a:xfrm>
            <a:off x="3581400" y="3143250"/>
            <a:ext cx="1123950" cy="809625"/>
          </a:xfrm>
          <a:prstGeom prst="rect">
            <a:avLst/>
          </a:prstGeom>
          <a:solidFill>
            <a:srgbClr val="1a2233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表头格"/>
          <p:cNvSpPr/>
          <p:nvPr/>
        </p:nvSpPr>
        <p:spPr>
          <a:xfrm>
            <a:off x="4705350" y="3143250"/>
            <a:ext cx="1123950" cy="809625"/>
          </a:xfrm>
          <a:prstGeom prst="rect">
            <a:avLst/>
          </a:prstGeom>
          <a:solidFill>
            <a:srgbClr val="1a2233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表头格"/>
          <p:cNvSpPr/>
          <p:nvPr/>
        </p:nvSpPr>
        <p:spPr>
          <a:xfrm>
            <a:off x="5829300" y="3143250"/>
            <a:ext cx="1123950" cy="809625"/>
          </a:xfrm>
          <a:prstGeom prst="rect">
            <a:avLst/>
          </a:prstGeom>
          <a:solidFill>
            <a:srgbClr val="1a2233"/>
          </a:solidFill>
          <a:ln>
            <a:noFill/>
          </a:ln>
        </p:spPr>
        <p:txBody>
          <a:bodyPr/>
          <a:lstStyle/>
          <a:p/>
        </p:txBody>
      </p:sp>
      <p:sp>
        <p:nvSpPr>
          <p:cNvPr id="79" name="表头格"/>
          <p:cNvSpPr/>
          <p:nvPr/>
        </p:nvSpPr>
        <p:spPr>
          <a:xfrm>
            <a:off x="6953250" y="3143250"/>
            <a:ext cx="2636788" cy="809625"/>
          </a:xfrm>
          <a:prstGeom prst="rect">
            <a:avLst/>
          </a:prstGeom>
          <a:solidFill>
            <a:srgbClr val="1a2233"/>
          </a:solidFill>
          <a:ln>
            <a:noFill/>
          </a:ln>
        </p:spPr>
        <p:txBody>
          <a:bodyPr/>
          <a:lstStyle/>
          <a:p/>
        </p:txBody>
      </p:sp>
      <p:sp>
        <p:nvSpPr>
          <p:cNvPr id="80" name="单元格"/>
          <p:cNvSpPr/>
          <p:nvPr/>
        </p:nvSpPr>
        <p:spPr>
          <a:xfrm>
            <a:off x="914400" y="3952875"/>
            <a:ext cx="2667000" cy="842963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单元格"/>
          <p:cNvSpPr/>
          <p:nvPr/>
        </p:nvSpPr>
        <p:spPr>
          <a:xfrm>
            <a:off x="3581400" y="3952875"/>
            <a:ext cx="1123950" cy="842963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单元格"/>
          <p:cNvSpPr/>
          <p:nvPr/>
        </p:nvSpPr>
        <p:spPr>
          <a:xfrm>
            <a:off x="4705350" y="3952875"/>
            <a:ext cx="1123950" cy="842963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单元格"/>
          <p:cNvSpPr/>
          <p:nvPr/>
        </p:nvSpPr>
        <p:spPr>
          <a:xfrm>
            <a:off x="5829300" y="3952875"/>
            <a:ext cx="1123950" cy="842963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84" name="单元格"/>
          <p:cNvSpPr/>
          <p:nvPr/>
        </p:nvSpPr>
        <p:spPr>
          <a:xfrm>
            <a:off x="6953250" y="3952875"/>
            <a:ext cx="2636788" cy="842963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单元格"/>
          <p:cNvSpPr/>
          <p:nvPr/>
        </p:nvSpPr>
        <p:spPr>
          <a:xfrm>
            <a:off x="914400" y="4795838"/>
            <a:ext cx="2667000" cy="847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6" name="单元格"/>
          <p:cNvSpPr/>
          <p:nvPr/>
        </p:nvSpPr>
        <p:spPr>
          <a:xfrm>
            <a:off x="3581400" y="4795838"/>
            <a:ext cx="1123950" cy="847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7" name="单元格"/>
          <p:cNvSpPr/>
          <p:nvPr/>
        </p:nvSpPr>
        <p:spPr>
          <a:xfrm>
            <a:off x="4705350" y="4795838"/>
            <a:ext cx="1123950" cy="847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8" name="单元格"/>
          <p:cNvSpPr/>
          <p:nvPr/>
        </p:nvSpPr>
        <p:spPr>
          <a:xfrm>
            <a:off x="5829300" y="4795838"/>
            <a:ext cx="1123950" cy="847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单元格"/>
          <p:cNvSpPr/>
          <p:nvPr/>
        </p:nvSpPr>
        <p:spPr>
          <a:xfrm>
            <a:off x="6953250" y="4795838"/>
            <a:ext cx="2636788" cy="847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单元格"/>
          <p:cNvSpPr/>
          <p:nvPr/>
        </p:nvSpPr>
        <p:spPr>
          <a:xfrm>
            <a:off x="914400" y="5643563"/>
            <a:ext cx="2667000" cy="847725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91" name="单元格"/>
          <p:cNvSpPr/>
          <p:nvPr/>
        </p:nvSpPr>
        <p:spPr>
          <a:xfrm>
            <a:off x="3581400" y="5643563"/>
            <a:ext cx="1123950" cy="847725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单元格"/>
          <p:cNvSpPr/>
          <p:nvPr/>
        </p:nvSpPr>
        <p:spPr>
          <a:xfrm>
            <a:off x="4705350" y="5643563"/>
            <a:ext cx="1123950" cy="847725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93" name="单元格"/>
          <p:cNvSpPr/>
          <p:nvPr/>
        </p:nvSpPr>
        <p:spPr>
          <a:xfrm>
            <a:off x="5829300" y="5643563"/>
            <a:ext cx="1123950" cy="847725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94" name="单元格"/>
          <p:cNvSpPr/>
          <p:nvPr/>
        </p:nvSpPr>
        <p:spPr>
          <a:xfrm>
            <a:off x="6953250" y="5643563"/>
            <a:ext cx="2636788" cy="847725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95" name="单元格"/>
          <p:cNvSpPr/>
          <p:nvPr/>
        </p:nvSpPr>
        <p:spPr>
          <a:xfrm>
            <a:off x="914400" y="6491288"/>
            <a:ext cx="2667000" cy="847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6" name="单元格"/>
          <p:cNvSpPr/>
          <p:nvPr/>
        </p:nvSpPr>
        <p:spPr>
          <a:xfrm>
            <a:off x="3581400" y="6491288"/>
            <a:ext cx="1123950" cy="847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7" name="单元格"/>
          <p:cNvSpPr/>
          <p:nvPr/>
        </p:nvSpPr>
        <p:spPr>
          <a:xfrm>
            <a:off x="4705350" y="6491288"/>
            <a:ext cx="1123950" cy="847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8" name="单元格"/>
          <p:cNvSpPr/>
          <p:nvPr/>
        </p:nvSpPr>
        <p:spPr>
          <a:xfrm>
            <a:off x="5829300" y="6491288"/>
            <a:ext cx="1123950" cy="847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9" name="单元格"/>
          <p:cNvSpPr/>
          <p:nvPr/>
        </p:nvSpPr>
        <p:spPr>
          <a:xfrm>
            <a:off x="6953250" y="6491288"/>
            <a:ext cx="2636788" cy="847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" name="单元格"/>
          <p:cNvSpPr/>
          <p:nvPr/>
        </p:nvSpPr>
        <p:spPr>
          <a:xfrm>
            <a:off x="914400" y="7339013"/>
            <a:ext cx="2667000" cy="847725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单元格"/>
          <p:cNvSpPr/>
          <p:nvPr/>
        </p:nvSpPr>
        <p:spPr>
          <a:xfrm>
            <a:off x="3581400" y="7339013"/>
            <a:ext cx="1123950" cy="847725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单元格"/>
          <p:cNvSpPr/>
          <p:nvPr/>
        </p:nvSpPr>
        <p:spPr>
          <a:xfrm>
            <a:off x="4705350" y="7339013"/>
            <a:ext cx="1123950" cy="847725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单元格"/>
          <p:cNvSpPr/>
          <p:nvPr/>
        </p:nvSpPr>
        <p:spPr>
          <a:xfrm>
            <a:off x="5829300" y="7339013"/>
            <a:ext cx="1123950" cy="847725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单元格"/>
          <p:cNvSpPr/>
          <p:nvPr/>
        </p:nvSpPr>
        <p:spPr>
          <a:xfrm>
            <a:off x="6953250" y="7339013"/>
            <a:ext cx="2636788" cy="847725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" name="容器"/>
          <p:cNvSpPr txBox="1"/>
          <p:nvPr/>
        </p:nvSpPr>
        <p:spPr>
          <a:xfrm>
            <a:off x="914400" y="866775"/>
            <a:ext cx="1257300" cy="295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50" b="1" spc="600" dirty="0">
                <a:srgbClr val="f2994a"/>
                <a:latin typeface="PingFang SC"/>
                <a:ea typeface="PingFang SC"/>
                <a:cs typeface="PingFang SC"/>
              </a:rPr>
              <a:t>性质验证</a:t>
            </a:r>
          </a:p>
        </p:txBody>
      </p:sp>
      <p:sp>
        <p:nvSpPr>
          <p:cNvPr id="106" name="标题"/>
          <p:cNvSpPr txBox="1"/>
          <p:nvPr/>
        </p:nvSpPr>
        <p:spPr>
          <a:xfrm>
            <a:off x="914400" y="1295400"/>
            <a:ext cx="8413433" cy="981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5400" b="1" spc="75" dirty="0">
                <a:srgbClr val="1a2233"/>
                <a:latin typeface="PingFang SC"/>
                <a:ea typeface="PingFang SC"/>
                <a:cs typeface="PingFang SC"/>
              </a:rPr>
              <a:t>分子分母同时变化的结果</a:t>
            </a:r>
          </a:p>
        </p:txBody>
      </p:sp>
      <p:sp>
        <p:nvSpPr>
          <p:cNvPr id="107" name="表头格"/>
          <p:cNvSpPr txBox="1"/>
          <p:nvPr/>
        </p:nvSpPr>
        <p:spPr>
          <a:xfrm>
            <a:off x="1219200" y="3381375"/>
            <a:ext cx="29337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75" b="1" spc="150" dirty="0">
                <a:srgbClr val="f7f4ec"/>
                <a:latin typeface="PingFang SC"/>
                <a:ea typeface="PingFang SC"/>
                <a:cs typeface="PingFang SC"/>
              </a:rPr>
              <a:t>同时乘或除以的数</a:t>
            </a:r>
          </a:p>
        </p:txBody>
      </p:sp>
      <p:sp>
        <p:nvSpPr>
          <p:cNvPr id="108" name="表头格"/>
          <p:cNvSpPr txBox="1"/>
          <p:nvPr/>
        </p:nvSpPr>
        <p:spPr>
          <a:xfrm>
            <a:off x="3886200" y="3381375"/>
            <a:ext cx="1236345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75" b="1" spc="150" dirty="0">
                <a:srgbClr val="f7f4ec"/>
                <a:latin typeface="PingFang SC"/>
                <a:ea typeface="PingFang SC"/>
                <a:cs typeface="PingFang SC"/>
              </a:rPr>
              <a:t>分子</a:t>
            </a:r>
          </a:p>
        </p:txBody>
      </p:sp>
      <p:sp>
        <p:nvSpPr>
          <p:cNvPr id="109" name="表头格"/>
          <p:cNvSpPr txBox="1"/>
          <p:nvPr/>
        </p:nvSpPr>
        <p:spPr>
          <a:xfrm>
            <a:off x="5010150" y="3381375"/>
            <a:ext cx="1236345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75" b="1" spc="150" dirty="0">
                <a:srgbClr val="f7f4ec"/>
                <a:latin typeface="PingFang SC"/>
                <a:ea typeface="PingFang SC"/>
                <a:cs typeface="PingFang SC"/>
              </a:rPr>
              <a:t>分母</a:t>
            </a:r>
          </a:p>
        </p:txBody>
      </p:sp>
      <p:sp>
        <p:nvSpPr>
          <p:cNvPr id="110" name="表头格"/>
          <p:cNvSpPr txBox="1"/>
          <p:nvPr/>
        </p:nvSpPr>
        <p:spPr>
          <a:xfrm>
            <a:off x="6134100" y="3381375"/>
            <a:ext cx="1236345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75" b="1" spc="150" dirty="0">
                <a:srgbClr val="f7f4ec"/>
                <a:latin typeface="PingFang SC"/>
                <a:ea typeface="PingFang SC"/>
                <a:cs typeface="PingFang SC"/>
              </a:rPr>
              <a:t>分数</a:t>
            </a:r>
          </a:p>
        </p:txBody>
      </p:sp>
      <p:sp>
        <p:nvSpPr>
          <p:cNvPr id="111" name="表头格"/>
          <p:cNvSpPr txBox="1"/>
          <p:nvPr/>
        </p:nvSpPr>
        <p:spPr>
          <a:xfrm>
            <a:off x="7258050" y="3381375"/>
            <a:ext cx="2900467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75" b="1" spc="150" dirty="0">
                <a:srgbClr val="f7f4ec"/>
                <a:latin typeface="PingFang SC"/>
                <a:ea typeface="PingFang SC"/>
                <a:cs typeface="PingFang SC"/>
              </a:rPr>
              <a:t>与原分数比较</a:t>
            </a:r>
          </a:p>
        </p:txBody>
      </p:sp>
      <p:sp>
        <p:nvSpPr>
          <p:cNvPr id="112" name="单元格"/>
          <p:cNvSpPr txBox="1"/>
          <p:nvPr/>
        </p:nvSpPr>
        <p:spPr>
          <a:xfrm>
            <a:off x="1219200" y="4191000"/>
            <a:ext cx="29337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25" dirty="0">
                <a:srgbClr val="37455e"/>
                <a:latin typeface="PingFang SC"/>
                <a:ea typeface="PingFang SC"/>
                <a:cs typeface="PingFang SC"/>
              </a:rPr>
              <a:t>不变化</a:t>
            </a:r>
          </a:p>
        </p:txBody>
      </p:sp>
      <p:sp>
        <p:nvSpPr>
          <p:cNvPr id="113" name="单元格"/>
          <p:cNvSpPr txBox="1"/>
          <p:nvPr/>
        </p:nvSpPr>
        <p:spPr>
          <a:xfrm>
            <a:off x="3886200" y="4191000"/>
            <a:ext cx="123634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25" dirty="0">
                <a:srgbClr val="37455e"/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14" name="单元格"/>
          <p:cNvSpPr txBox="1"/>
          <p:nvPr/>
        </p:nvSpPr>
        <p:spPr>
          <a:xfrm>
            <a:off x="5010150" y="4191000"/>
            <a:ext cx="123634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25" dirty="0">
                <a:srgbClr val="37455e"/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15" name="单元格"/>
          <p:cNvSpPr txBox="1"/>
          <p:nvPr/>
        </p:nvSpPr>
        <p:spPr>
          <a:xfrm>
            <a:off x="6134100" y="4191000"/>
            <a:ext cx="123634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25" dirty="0">
                <a:srgbClr val="37455e"/>
                <a:latin typeface="PingFang SC"/>
                <a:ea typeface="PingFang SC"/>
                <a:cs typeface="PingFang SC"/>
              </a:rPr>
              <a:t>1/2</a:t>
            </a:r>
          </a:p>
        </p:txBody>
      </p:sp>
      <p:sp>
        <p:nvSpPr>
          <p:cNvPr id="116" name="单元格"/>
          <p:cNvSpPr txBox="1"/>
          <p:nvPr/>
        </p:nvSpPr>
        <p:spPr>
          <a:xfrm>
            <a:off x="7258050" y="4191000"/>
            <a:ext cx="2900467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25" dirty="0">
                <a:srgbClr val="37455e"/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117" name="单元格"/>
          <p:cNvSpPr txBox="1"/>
          <p:nvPr/>
        </p:nvSpPr>
        <p:spPr>
          <a:xfrm>
            <a:off x="1219200" y="5038725"/>
            <a:ext cx="29337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25" dirty="0">
                <a:srgbClr val="37455e"/>
                <a:latin typeface="PingFang SC"/>
                <a:ea typeface="PingFang SC"/>
                <a:cs typeface="PingFang SC"/>
              </a:rPr>
              <a:t>同时乘 2</a:t>
            </a:r>
          </a:p>
        </p:txBody>
      </p:sp>
      <p:sp>
        <p:nvSpPr>
          <p:cNvPr id="118" name="单元格"/>
          <p:cNvSpPr txBox="1"/>
          <p:nvPr/>
        </p:nvSpPr>
        <p:spPr>
          <a:xfrm>
            <a:off x="3886200" y="5038725"/>
            <a:ext cx="123634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25" dirty="0">
                <a:srgbClr val="37455e"/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19" name="单元格"/>
          <p:cNvSpPr txBox="1"/>
          <p:nvPr/>
        </p:nvSpPr>
        <p:spPr>
          <a:xfrm>
            <a:off x="5010150" y="5038725"/>
            <a:ext cx="123634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25" dirty="0">
                <a:srgbClr val="37455e"/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20" name="单元格"/>
          <p:cNvSpPr txBox="1"/>
          <p:nvPr/>
        </p:nvSpPr>
        <p:spPr>
          <a:xfrm>
            <a:off x="6134100" y="5038725"/>
            <a:ext cx="123634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25" dirty="0">
                <a:srgbClr val="37455e"/>
                <a:latin typeface="PingFang SC"/>
                <a:ea typeface="PingFang SC"/>
                <a:cs typeface="PingFang SC"/>
              </a:rPr>
              <a:t>2/4</a:t>
            </a:r>
          </a:p>
        </p:txBody>
      </p:sp>
      <p:sp>
        <p:nvSpPr>
          <p:cNvPr id="121" name="单元格"/>
          <p:cNvSpPr txBox="1"/>
          <p:nvPr/>
        </p:nvSpPr>
        <p:spPr>
          <a:xfrm>
            <a:off x="7258050" y="5038725"/>
            <a:ext cx="2900467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25" b="1" dirty="0">
                <a:srgbClr val="c9302c"/>
                <a:latin typeface="PingFang SC"/>
                <a:ea typeface="PingFang SC"/>
                <a:cs typeface="PingFang SC"/>
              </a:rPr>
              <a:t>大小相等</a:t>
            </a:r>
          </a:p>
        </p:txBody>
      </p:sp>
      <p:sp>
        <p:nvSpPr>
          <p:cNvPr id="122" name="单元格"/>
          <p:cNvSpPr txBox="1"/>
          <p:nvPr/>
        </p:nvSpPr>
        <p:spPr>
          <a:xfrm>
            <a:off x="1219200" y="5886450"/>
            <a:ext cx="29337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25" dirty="0">
                <a:srgbClr val="37455e"/>
                <a:latin typeface="PingFang SC"/>
                <a:ea typeface="PingFang SC"/>
                <a:cs typeface="PingFang SC"/>
              </a:rPr>
              <a:t>同时乘 3</a:t>
            </a:r>
          </a:p>
        </p:txBody>
      </p:sp>
      <p:sp>
        <p:nvSpPr>
          <p:cNvPr id="123" name="单元格"/>
          <p:cNvSpPr txBox="1"/>
          <p:nvPr/>
        </p:nvSpPr>
        <p:spPr>
          <a:xfrm>
            <a:off x="3886200" y="5886450"/>
            <a:ext cx="123634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25" dirty="0">
                <a:srgbClr val="37455e"/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24" name="单元格"/>
          <p:cNvSpPr txBox="1"/>
          <p:nvPr/>
        </p:nvSpPr>
        <p:spPr>
          <a:xfrm>
            <a:off x="5010150" y="5886450"/>
            <a:ext cx="123634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25" dirty="0">
                <a:srgbClr val="37455e"/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125" name="单元格"/>
          <p:cNvSpPr txBox="1"/>
          <p:nvPr/>
        </p:nvSpPr>
        <p:spPr>
          <a:xfrm>
            <a:off x="6134100" y="5886450"/>
            <a:ext cx="123634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25" dirty="0">
                <a:srgbClr val="37455e"/>
                <a:latin typeface="PingFang SC"/>
                <a:ea typeface="PingFang SC"/>
                <a:cs typeface="PingFang SC"/>
              </a:rPr>
              <a:t>3/6</a:t>
            </a:r>
          </a:p>
        </p:txBody>
      </p:sp>
      <p:sp>
        <p:nvSpPr>
          <p:cNvPr id="126" name="单元格"/>
          <p:cNvSpPr txBox="1"/>
          <p:nvPr/>
        </p:nvSpPr>
        <p:spPr>
          <a:xfrm>
            <a:off x="7258050" y="5886450"/>
            <a:ext cx="2900467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25" b="1" dirty="0">
                <a:srgbClr val="c9302c"/>
                <a:latin typeface="PingFang SC"/>
                <a:ea typeface="PingFang SC"/>
                <a:cs typeface="PingFang SC"/>
              </a:rPr>
              <a:t>大小相等</a:t>
            </a:r>
          </a:p>
        </p:txBody>
      </p:sp>
      <p:sp>
        <p:nvSpPr>
          <p:cNvPr id="127" name="单元格"/>
          <p:cNvSpPr txBox="1"/>
          <p:nvPr/>
        </p:nvSpPr>
        <p:spPr>
          <a:xfrm>
            <a:off x="1219200" y="6734175"/>
            <a:ext cx="29337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25" dirty="0">
                <a:srgbClr val="37455e"/>
                <a:latin typeface="PingFang SC"/>
                <a:ea typeface="PingFang SC"/>
                <a:cs typeface="PingFang SC"/>
              </a:rPr>
              <a:t>同时除以 3</a:t>
            </a:r>
          </a:p>
        </p:txBody>
      </p:sp>
      <p:sp>
        <p:nvSpPr>
          <p:cNvPr id="128" name="单元格"/>
          <p:cNvSpPr txBox="1"/>
          <p:nvPr/>
        </p:nvSpPr>
        <p:spPr>
          <a:xfrm>
            <a:off x="3886200" y="6734175"/>
            <a:ext cx="123634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25" dirty="0">
                <a:srgbClr val="37455e"/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29" name="单元格"/>
          <p:cNvSpPr txBox="1"/>
          <p:nvPr/>
        </p:nvSpPr>
        <p:spPr>
          <a:xfrm>
            <a:off x="5010150" y="6734175"/>
            <a:ext cx="123634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25" dirty="0">
                <a:srgbClr val="37455e"/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0" name="单元格"/>
          <p:cNvSpPr txBox="1"/>
          <p:nvPr/>
        </p:nvSpPr>
        <p:spPr>
          <a:xfrm>
            <a:off x="6134100" y="6734175"/>
            <a:ext cx="123634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25" dirty="0">
                <a:srgbClr val="37455e"/>
                <a:latin typeface="PingFang SC"/>
                <a:ea typeface="PingFang SC"/>
                <a:cs typeface="PingFang SC"/>
              </a:rPr>
              <a:t>1/2</a:t>
            </a:r>
          </a:p>
        </p:txBody>
      </p:sp>
      <p:sp>
        <p:nvSpPr>
          <p:cNvPr id="131" name="单元格"/>
          <p:cNvSpPr txBox="1"/>
          <p:nvPr/>
        </p:nvSpPr>
        <p:spPr>
          <a:xfrm>
            <a:off x="7258050" y="6734175"/>
            <a:ext cx="2900467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25" b="1" dirty="0">
                <a:srgbClr val="c9302c"/>
                <a:latin typeface="PingFang SC"/>
                <a:ea typeface="PingFang SC"/>
                <a:cs typeface="PingFang SC"/>
              </a:rPr>
              <a:t>大小相等</a:t>
            </a:r>
          </a:p>
        </p:txBody>
      </p:sp>
      <p:sp>
        <p:nvSpPr>
          <p:cNvPr id="132" name="单元格"/>
          <p:cNvSpPr txBox="1"/>
          <p:nvPr/>
        </p:nvSpPr>
        <p:spPr>
          <a:xfrm>
            <a:off x="1219200" y="7581900"/>
            <a:ext cx="29337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25" dirty="0">
                <a:srgbClr val="37455e"/>
                <a:latin typeface="PingFang SC"/>
                <a:ea typeface="PingFang SC"/>
                <a:cs typeface="PingFang SC"/>
              </a:rPr>
              <a:t>同时乘 0</a:t>
            </a:r>
          </a:p>
        </p:txBody>
      </p:sp>
      <p:sp>
        <p:nvSpPr>
          <p:cNvPr id="133" name="单元格"/>
          <p:cNvSpPr txBox="1"/>
          <p:nvPr/>
        </p:nvSpPr>
        <p:spPr>
          <a:xfrm>
            <a:off x="3886200" y="7581900"/>
            <a:ext cx="123634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25" dirty="0">
                <a:srgbClr val="37455e"/>
                <a:latin typeface="PingFang SC"/>
                <a:ea typeface="PingFang SC"/>
                <a:cs typeface="PingFang SC"/>
              </a:rPr>
              <a:t>0</a:t>
            </a:r>
          </a:p>
        </p:txBody>
      </p:sp>
      <p:sp>
        <p:nvSpPr>
          <p:cNvPr id="134" name="单元格"/>
          <p:cNvSpPr txBox="1"/>
          <p:nvPr/>
        </p:nvSpPr>
        <p:spPr>
          <a:xfrm>
            <a:off x="5010150" y="7581900"/>
            <a:ext cx="123634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25" dirty="0">
                <a:srgbClr val="37455e"/>
                <a:latin typeface="PingFang SC"/>
                <a:ea typeface="PingFang SC"/>
                <a:cs typeface="PingFang SC"/>
              </a:rPr>
              <a:t>0</a:t>
            </a:r>
          </a:p>
        </p:txBody>
      </p:sp>
      <p:sp>
        <p:nvSpPr>
          <p:cNvPr id="135" name="单元格"/>
          <p:cNvSpPr txBox="1"/>
          <p:nvPr/>
        </p:nvSpPr>
        <p:spPr>
          <a:xfrm>
            <a:off x="6134100" y="7581900"/>
            <a:ext cx="123634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25" dirty="0">
                <a:srgbClr val="37455e"/>
                <a:latin typeface="PingFang SC"/>
                <a:ea typeface="PingFang SC"/>
                <a:cs typeface="PingFang SC"/>
              </a:rPr>
              <a:t>0/0</a:t>
            </a:r>
          </a:p>
        </p:txBody>
      </p:sp>
      <p:sp>
        <p:nvSpPr>
          <p:cNvPr id="136" name="单元格"/>
          <p:cNvSpPr txBox="1"/>
          <p:nvPr/>
        </p:nvSpPr>
        <p:spPr>
          <a:xfrm>
            <a:off x="7258050" y="7581900"/>
            <a:ext cx="2900467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25" dirty="0">
                <a:srgbClr val="37455e"/>
                <a:latin typeface="PingFang SC"/>
                <a:ea typeface="PingFang SC"/>
                <a:cs typeface="PingFang SC"/>
              </a:rPr>
              <a:t>不成立（0 除外）</a:t>
            </a:r>
          </a:p>
        </p:txBody>
      </p:sp>
      <p:sp>
        <p:nvSpPr>
          <p:cNvPr id="137" name="容器"/>
          <p:cNvSpPr txBox="1"/>
          <p:nvPr/>
        </p:nvSpPr>
        <p:spPr>
          <a:xfrm>
            <a:off x="914400" y="9467850"/>
            <a:ext cx="4122078" cy="295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50" dirty="0">
                <a:srgbClr val="b3bccb"/>
                <a:latin typeface="PingFang SC"/>
                <a:ea typeface="PingFang SC"/>
                <a:cs typeface="PingFang SC"/>
              </a:rPr>
              <a:t>除以的数不能为 0，这是性质成立的前提</a:t>
            </a:r>
          </a:p>
        </p:txBody>
      </p:sp>
      <p:sp>
        <p:nvSpPr>
          <p:cNvPr id="138" name="容器"/>
          <p:cNvSpPr txBox="1"/>
          <p:nvPr/>
        </p:nvSpPr>
        <p:spPr>
          <a:xfrm>
            <a:off x="16535102" y="9467850"/>
            <a:ext cx="922347" cy="295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50" spc="150" dirty="0">
                <a:srgbClr val="b3bccb"/>
                <a:latin typeface="PingFang SC"/>
                <a:ea typeface="PingFang SC"/>
                <a:cs typeface="PingFang SC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底色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" name="区块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" name="容器"/>
          <p:cNvSpPr/>
          <p:nvPr/>
        </p:nvSpPr>
        <p:spPr>
          <a:xfrm>
            <a:off x="914400" y="2381250"/>
            <a:ext cx="914400" cy="5715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" name="容器"/>
          <p:cNvSpPr/>
          <p:nvPr/>
        </p:nvSpPr>
        <p:spPr>
          <a:xfrm>
            <a:off x="914400" y="3238500"/>
            <a:ext cx="2857500" cy="1257300"/>
          </a:xfrm>
          <a:prstGeom prst="roundRect">
            <a:avLst>
              <a:gd name="adj" fmla="val 12121"/>
            </a:avLst>
          </a:prstGeom>
          <a:solidFill>
            <a:srgbClr val="1a2233"/>
          </a:solidFill>
          <a:ln w="28575" cap="flat">
            <a:solidFill>
              <a:srgbClr val="1a2233"/>
            </a:solidFill>
          </a:ln>
        </p:spPr>
        <p:txBody>
          <a:bodyPr/>
          <a:lstStyle/>
          <a:p/>
        </p:txBody>
      </p:sp>
      <p:sp>
        <p:nvSpPr>
          <p:cNvPr id="142" name="容器"/>
          <p:cNvSpPr/>
          <p:nvPr/>
        </p:nvSpPr>
        <p:spPr>
          <a:xfrm>
            <a:off x="3962400" y="3838575"/>
            <a:ext cx="1238250" cy="57150"/>
          </a:xfrm>
          <a:prstGeom prst="rect">
            <a:avLst/>
          </a:prstGeom>
          <a:solidFill>
            <a:srgbClr val="c9d4e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" name="容器"/>
          <p:cNvSpPr/>
          <p:nvPr/>
        </p:nvSpPr>
        <p:spPr>
          <a:xfrm>
            <a:off x="5391150" y="3238500"/>
            <a:ext cx="2857500" cy="12573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28575" cap="flat">
            <a:solidFill>
              <a:srgbClr val="dde5f0"/>
            </a:solidFill>
          </a:ln>
        </p:spPr>
        <p:txBody>
          <a:bodyPr/>
          <a:lstStyle/>
          <a:p/>
        </p:txBody>
      </p:sp>
      <p:sp>
        <p:nvSpPr>
          <p:cNvPr id="144" name="容器"/>
          <p:cNvSpPr/>
          <p:nvPr/>
        </p:nvSpPr>
        <p:spPr>
          <a:xfrm>
            <a:off x="8439150" y="3838575"/>
            <a:ext cx="1238250" cy="57150"/>
          </a:xfrm>
          <a:prstGeom prst="rect">
            <a:avLst/>
          </a:prstGeom>
          <a:solidFill>
            <a:srgbClr val="c9d4e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" name="容器"/>
          <p:cNvSpPr/>
          <p:nvPr/>
        </p:nvSpPr>
        <p:spPr>
          <a:xfrm>
            <a:off x="9867900" y="3238500"/>
            <a:ext cx="2857500" cy="1257300"/>
          </a:xfrm>
          <a:prstGeom prst="roundRect">
            <a:avLst>
              <a:gd name="adj" fmla="val 12121"/>
            </a:avLst>
          </a:prstGeom>
          <a:solidFill>
            <a:srgbClr val="f2994a"/>
          </a:solidFill>
          <a:ln w="28575" cap="flat">
            <a:solidFill>
              <a:srgbClr val="f2994a"/>
            </a:solidFill>
          </a:ln>
        </p:spPr>
        <p:txBody>
          <a:bodyPr/>
          <a:lstStyle/>
          <a:p/>
        </p:txBody>
      </p:sp>
      <p:sp>
        <p:nvSpPr>
          <p:cNvPr id="146" name="容器"/>
          <p:cNvSpPr/>
          <p:nvPr/>
        </p:nvSpPr>
        <p:spPr>
          <a:xfrm>
            <a:off x="914400" y="5619750"/>
            <a:ext cx="2857500" cy="1257300"/>
          </a:xfrm>
          <a:prstGeom prst="roundRect">
            <a:avLst>
              <a:gd name="adj" fmla="val 12121"/>
            </a:avLst>
          </a:prstGeom>
          <a:solidFill>
            <a:srgbClr val="1a2233"/>
          </a:solidFill>
          <a:ln w="28575" cap="flat">
            <a:solidFill>
              <a:srgbClr val="1a2233"/>
            </a:solidFill>
          </a:ln>
        </p:spPr>
        <p:txBody>
          <a:bodyPr/>
          <a:lstStyle/>
          <a:p/>
        </p:txBody>
      </p:sp>
      <p:sp>
        <p:nvSpPr>
          <p:cNvPr id="147" name="容器"/>
          <p:cNvSpPr/>
          <p:nvPr/>
        </p:nvSpPr>
        <p:spPr>
          <a:xfrm>
            <a:off x="3962400" y="6219825"/>
            <a:ext cx="1238250" cy="57150"/>
          </a:xfrm>
          <a:prstGeom prst="rect">
            <a:avLst/>
          </a:prstGeom>
          <a:solidFill>
            <a:srgbClr val="c9d4e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" name="容器"/>
          <p:cNvSpPr/>
          <p:nvPr/>
        </p:nvSpPr>
        <p:spPr>
          <a:xfrm>
            <a:off x="5391150" y="5619750"/>
            <a:ext cx="2857500" cy="12573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28575" cap="flat">
            <a:solidFill>
              <a:srgbClr val="dde5f0"/>
            </a:solidFill>
          </a:ln>
        </p:spPr>
        <p:txBody>
          <a:bodyPr/>
          <a:lstStyle/>
          <a:p/>
        </p:txBody>
      </p:sp>
      <p:sp>
        <p:nvSpPr>
          <p:cNvPr id="149" name="容器"/>
          <p:cNvSpPr/>
          <p:nvPr/>
        </p:nvSpPr>
        <p:spPr>
          <a:xfrm>
            <a:off x="8439150" y="6219825"/>
            <a:ext cx="1238250" cy="57150"/>
          </a:xfrm>
          <a:prstGeom prst="rect">
            <a:avLst/>
          </a:prstGeom>
          <a:solidFill>
            <a:srgbClr val="c9d4e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" name="容器"/>
          <p:cNvSpPr/>
          <p:nvPr/>
        </p:nvSpPr>
        <p:spPr>
          <a:xfrm>
            <a:off x="9867900" y="5619750"/>
            <a:ext cx="2857500" cy="1257300"/>
          </a:xfrm>
          <a:prstGeom prst="roundRect">
            <a:avLst>
              <a:gd name="adj" fmla="val 12121"/>
            </a:avLst>
          </a:prstGeom>
          <a:solidFill>
            <a:srgbClr val="f2994a"/>
          </a:solidFill>
          <a:ln w="28575" cap="flat">
            <a:solidFill>
              <a:srgbClr val="f2994a"/>
            </a:solidFill>
          </a:ln>
        </p:spPr>
        <p:txBody>
          <a:bodyPr/>
          <a:lstStyle/>
          <a:p/>
        </p:txBody>
      </p:sp>
      <p:sp>
        <p:nvSpPr>
          <p:cNvPr id="151" name="容器"/>
          <p:cNvSpPr txBox="1"/>
          <p:nvPr/>
        </p:nvSpPr>
        <p:spPr>
          <a:xfrm>
            <a:off x="914400" y="866775"/>
            <a:ext cx="1257300" cy="295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50" b="1" spc="600" dirty="0">
                <a:srgbClr val="f2994a"/>
                <a:latin typeface="PingFang SC"/>
                <a:ea typeface="PingFang SC"/>
                <a:cs typeface="PingFang SC"/>
              </a:rPr>
              <a:t>推理过程</a:t>
            </a:r>
          </a:p>
        </p:txBody>
      </p:sp>
      <p:sp>
        <p:nvSpPr>
          <p:cNvPr id="152" name="标题"/>
          <p:cNvSpPr txBox="1"/>
          <p:nvPr/>
        </p:nvSpPr>
        <p:spPr>
          <a:xfrm>
            <a:off x="914400" y="1295400"/>
            <a:ext cx="6883718" cy="981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5400" b="1" spc="75" dirty="0">
                <a:srgbClr val="1a2233"/>
                <a:latin typeface="PingFang SC"/>
                <a:ea typeface="PingFang SC"/>
                <a:cs typeface="PingFang SC"/>
              </a:rPr>
              <a:t>性质是怎么被证明的</a:t>
            </a:r>
          </a:p>
        </p:txBody>
      </p:sp>
      <p:sp>
        <p:nvSpPr>
          <p:cNvPr id="153" name="容器"/>
          <p:cNvSpPr txBox="1"/>
          <p:nvPr/>
        </p:nvSpPr>
        <p:spPr>
          <a:xfrm>
            <a:off x="1639491" y="3648075"/>
            <a:ext cx="314325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b="1" dirty="0">
                <a:srgbClr val="f7f4ec"/>
                <a:latin typeface="PingFang SC"/>
                <a:ea typeface="PingFang SC"/>
                <a:cs typeface="PingFang SC"/>
              </a:rPr>
              <a:t>单位「1」</a:t>
            </a:r>
          </a:p>
        </p:txBody>
      </p:sp>
      <p:sp>
        <p:nvSpPr>
          <p:cNvPr id="154" name="容器"/>
          <p:cNvSpPr txBox="1"/>
          <p:nvPr/>
        </p:nvSpPr>
        <p:spPr>
          <a:xfrm>
            <a:off x="5873055" y="3648075"/>
            <a:ext cx="314325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b="1" dirty="0">
                <a:srgbClr val="1a2233"/>
                <a:latin typeface="PingFang SC"/>
                <a:ea typeface="PingFang SC"/>
                <a:cs typeface="PingFang SC"/>
              </a:rPr>
              <a:t>平均分成 2 份</a:t>
            </a:r>
          </a:p>
        </p:txBody>
      </p:sp>
      <p:sp>
        <p:nvSpPr>
          <p:cNvPr id="155" name="容器"/>
          <p:cNvSpPr txBox="1"/>
          <p:nvPr/>
        </p:nvSpPr>
        <p:spPr>
          <a:xfrm>
            <a:off x="10035480" y="3648075"/>
            <a:ext cx="314325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b="1" dirty="0">
                <a:srgbClr val="3a2a00"/>
                <a:latin typeface="PingFang SC"/>
                <a:ea typeface="PingFang SC"/>
                <a:cs typeface="PingFang SC"/>
              </a:rPr>
              <a:t>取其中 1 份 = 1/2</a:t>
            </a:r>
          </a:p>
        </p:txBody>
      </p:sp>
      <p:sp>
        <p:nvSpPr>
          <p:cNvPr id="156" name="容器"/>
          <p:cNvSpPr txBox="1"/>
          <p:nvPr/>
        </p:nvSpPr>
        <p:spPr>
          <a:xfrm>
            <a:off x="914400" y="4943475"/>
            <a:ext cx="5295885" cy="314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>
                <a:srgbClr val="7d8ba3"/>
                <a:latin typeface="PingFang SC"/>
                <a:ea typeface="PingFang SC"/>
                <a:cs typeface="PingFang SC"/>
              </a:rPr>
              <a:t>分子分母同乘 2，等于把每一份再平均分成 2 份</a:t>
            </a:r>
          </a:p>
        </p:txBody>
      </p:sp>
      <p:sp>
        <p:nvSpPr>
          <p:cNvPr id="157" name="容器"/>
          <p:cNvSpPr txBox="1"/>
          <p:nvPr/>
        </p:nvSpPr>
        <p:spPr>
          <a:xfrm>
            <a:off x="1733550" y="6029325"/>
            <a:ext cx="314325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b="1" dirty="0">
                <a:srgbClr val="f7f4ec"/>
                <a:latin typeface="PingFang SC"/>
                <a:ea typeface="PingFang SC"/>
                <a:cs typeface="PingFang SC"/>
              </a:rPr>
              <a:t>同一整体</a:t>
            </a:r>
          </a:p>
        </p:txBody>
      </p:sp>
      <p:sp>
        <p:nvSpPr>
          <p:cNvPr id="158" name="容器"/>
          <p:cNvSpPr txBox="1"/>
          <p:nvPr/>
        </p:nvSpPr>
        <p:spPr>
          <a:xfrm>
            <a:off x="5873055" y="6029325"/>
            <a:ext cx="314325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b="1" dirty="0">
                <a:srgbClr val="1a2233"/>
                <a:latin typeface="PingFang SC"/>
                <a:ea typeface="PingFang SC"/>
                <a:cs typeface="PingFang SC"/>
              </a:rPr>
              <a:t>平均分成 4 份</a:t>
            </a:r>
          </a:p>
        </p:txBody>
      </p:sp>
      <p:sp>
        <p:nvSpPr>
          <p:cNvPr id="159" name="容器"/>
          <p:cNvSpPr txBox="1"/>
          <p:nvPr/>
        </p:nvSpPr>
        <p:spPr>
          <a:xfrm>
            <a:off x="10035480" y="6029325"/>
            <a:ext cx="314325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b="1" dirty="0">
                <a:srgbClr val="3a2a00"/>
                <a:latin typeface="PingFang SC"/>
                <a:ea typeface="PingFang SC"/>
                <a:cs typeface="PingFang SC"/>
              </a:rPr>
              <a:t>取其中 2 份 = 2/4</a:t>
            </a:r>
          </a:p>
        </p:txBody>
      </p:sp>
      <p:sp>
        <p:nvSpPr>
          <p:cNvPr id="160" name="容器"/>
          <p:cNvSpPr txBox="1"/>
          <p:nvPr/>
        </p:nvSpPr>
        <p:spPr>
          <a:xfrm>
            <a:off x="914400" y="7315200"/>
            <a:ext cx="7250594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50" b="1" dirty="0">
                <a:srgbClr val="1a2233"/>
                <a:latin typeface="PingFang SC"/>
                <a:ea typeface="PingFang SC"/>
                <a:cs typeface="PingFang SC"/>
              </a:rPr>
              <a:t>因为整体没变、取的部分也没变，所以 1/2 = 2/4。</a:t>
            </a:r>
          </a:p>
        </p:txBody>
      </p:sp>
      <p:sp>
        <p:nvSpPr>
          <p:cNvPr id="161" name="容器"/>
          <p:cNvSpPr txBox="1"/>
          <p:nvPr/>
        </p:nvSpPr>
        <p:spPr>
          <a:xfrm>
            <a:off x="914400" y="9467850"/>
            <a:ext cx="4610100" cy="295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50" dirty="0">
                <a:srgbClr val="b3bccb"/>
                <a:latin typeface="PingFang SC"/>
                <a:ea typeface="PingFang SC"/>
                <a:cs typeface="PingFang SC"/>
              </a:rPr>
              <a:t>结论：分数的基本性质来自「整体的不变性」</a:t>
            </a:r>
          </a:p>
        </p:txBody>
      </p:sp>
      <p:sp>
        <p:nvSpPr>
          <p:cNvPr id="162" name="容器"/>
          <p:cNvSpPr txBox="1"/>
          <p:nvPr/>
        </p:nvSpPr>
        <p:spPr>
          <a:xfrm>
            <a:off x="16535102" y="9467850"/>
            <a:ext cx="922347" cy="295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indent="0"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50" spc="150" dirty="0">
                <a:srgbClr val="b3bccb"/>
                <a:latin typeface="PingFang SC"/>
                <a:ea typeface="PingFang SC"/>
                <a:cs typeface="PingFang SC"/>
              </a:rP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分数的意义与性质 · 课件">
  <a:themeElements>
    <a:clrScheme name="WizDeck">
      <a:dk1>
        <a:sysClr val="windowText" lastClr="000000"/>
      </a:dk1>
      <a:lt1>
        <a:sysClr val="window" lastClr="FFFFFF"/>
      </a:lt1>
      <a:dk2>
        <a:srgbClr val="1E2A3A"/>
      </a:dk2>
      <a:lt2>
        <a:srgbClr val="F5F7FA"/>
      </a:lt2>
      <a:accent1>
        <a:srgbClr val="F7A600"/>
      </a:accent1>
      <a:accent2>
        <a:srgbClr val="5B8DEF"/>
      </a:accent2>
      <a:accent3>
        <a:srgbClr val="27AE60"/>
      </a:accent3>
      <a:accent4>
        <a:srgbClr val="C9302C"/>
      </a:accent4>
      <a:accent5>
        <a:srgbClr val="8B5CF6"/>
      </a:accent5>
      <a:accent6>
        <a:srgbClr val="0EA5E9"/>
      </a:accent6>
      <a:hlink>
        <a:srgbClr val="2F80ED"/>
      </a:hlink>
      <a:folHlink>
        <a:srgbClr val="7D8BA3"/>
      </a:folHlink>
    </a:clrScheme>
    <a:fontScheme name="WizDeck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WizDeck">
      <a:fillStyleLst>
        <a:solidFill>
          <a:schemeClr val="phClr"/>
        </a:solidFill>
        <a:solidFill>
          <a:schemeClr val="phClr">
            <a:tint val="50000"/>
            <a:satMod val="300000"/>
          </a:schemeClr>
        </a:solidFill>
        <a:solidFill>
          <a:schemeClr val="phClr">
            <a:shade val="50000"/>
            <a:satMod val="20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63000"/>
            <a:satMod val="12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WizDeck 智演引擎</Application>
  <Slides>6</Slides>
  <Company/>
  <HeadingPairs>
    <vt:vector size="2" baseType="variant">
      <vt:variant>
        <vt:lpstr>幻灯片标题</vt:lpstr>
      </vt:variant>
      <vt:variant>
        <vt:i4>6</vt:i4>
      </vt:variant>
    </vt:vector>
  </HeadingPairs>
  <TitlesOfParts>
    <vt:vector size="1" baseType="lpstr">
      <vt:lpstr>分数的意义与性质 · 课件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分数的意义与性质 · 课件</dc:title>
  <dc:creator>WizDeck 智演引擎</dc:creator>
  <cp:lastModifiedBy>WizDeck 智演引擎</cp:lastModifiedBy>
  <dcterms:created xsi:type="dcterms:W3CDTF">2026-10-13T18:10:15Z</dcterms:created>
  <dcterms:modified xsi:type="dcterms:W3CDTF">2026-10-13T18:10:15Z</dcterms:modified>
</cp:coreProperties>
</file>